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Open Sans Bold" charset="0"/>
      <p:regular r:id="rId16"/>
    </p:embeddedFont>
    <p:embeddedFont>
      <p:font typeface="Calibri (MS) Bold" charset="0"/>
      <p:regular r:id="rId17"/>
    </p:embeddedFont>
    <p:embeddedFont>
      <p:font typeface="Canva Sans Bold" charset="0"/>
      <p:regular r:id="rId18"/>
    </p:embeddedFont>
    <p:embeddedFont>
      <p:font typeface="Calibri" pitchFamily="34" charset="0"/>
      <p:regular r:id="rId19"/>
      <p:bold r:id="rId20"/>
      <p:italic r:id="rId21"/>
      <p:boldItalic r:id="rId22"/>
    </p:embeddedFont>
    <p:embeddedFont>
      <p:font typeface="Calibri (MS)" charset="0"/>
      <p:regular r:id="rId23"/>
    </p:embeddedFont>
    <p:embeddedFont>
      <p:font typeface="Canva Sans" charset="0"/>
      <p:regular r:id="rId24"/>
    </p:embeddedFont>
    <p:embeddedFont>
      <p:font typeface="Tahoma Bold" pitchFamily="34" charset="0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09" autoAdjust="0"/>
    <p:restoredTop sz="94622" autoAdjust="0"/>
  </p:normalViewPr>
  <p:slideViewPr>
    <p:cSldViewPr>
      <p:cViewPr>
        <p:scale>
          <a:sx n="60" d="100"/>
          <a:sy n="60" d="100"/>
        </p:scale>
        <p:origin x="-226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1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docs.streamlit.io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9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57886" y="7171257"/>
            <a:ext cx="19040" cy="28560"/>
            <a:chOff x="0" y="0"/>
            <a:chExt cx="25387" cy="38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400" cy="38100"/>
            </a:xfrm>
            <a:custGeom>
              <a:avLst/>
              <a:gdLst/>
              <a:ahLst/>
              <a:cxnLst/>
              <a:rect l="l" t="t" r="r" b="b"/>
              <a:pathLst>
                <a:path w="25400" h="38100">
                  <a:moveTo>
                    <a:pt x="0" y="0"/>
                  </a:moveTo>
                  <a:lnTo>
                    <a:pt x="1524" y="2159"/>
                  </a:lnTo>
                  <a:lnTo>
                    <a:pt x="6350" y="9017"/>
                  </a:lnTo>
                  <a:lnTo>
                    <a:pt x="14224" y="20828"/>
                  </a:lnTo>
                  <a:lnTo>
                    <a:pt x="25400" y="38100"/>
                  </a:lnTo>
                  <a:lnTo>
                    <a:pt x="25400" y="34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BA8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352242" cy="2591990"/>
            <a:chOff x="0" y="0"/>
            <a:chExt cx="469655" cy="34559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9646" cy="3455289"/>
            </a:xfrm>
            <a:custGeom>
              <a:avLst/>
              <a:gdLst/>
              <a:ahLst/>
              <a:cxnLst/>
              <a:rect l="l" t="t" r="r" b="b"/>
              <a:pathLst>
                <a:path w="469646" h="3455289">
                  <a:moveTo>
                    <a:pt x="0" y="3455289"/>
                  </a:moveTo>
                  <a:lnTo>
                    <a:pt x="469646" y="3455289"/>
                  </a:lnTo>
                  <a:lnTo>
                    <a:pt x="469646" y="0"/>
                  </a:lnTo>
                  <a:lnTo>
                    <a:pt x="0" y="0"/>
                  </a:lnTo>
                  <a:lnTo>
                    <a:pt x="0" y="3455289"/>
                  </a:lnTo>
                  <a:close/>
                </a:path>
              </a:pathLst>
            </a:custGeom>
            <a:solidFill>
              <a:srgbClr val="DB756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212661" y="9929827"/>
            <a:ext cx="4065058" cy="352242"/>
            <a:chOff x="0" y="0"/>
            <a:chExt cx="5420077" cy="4696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20106" cy="469646"/>
            </a:xfrm>
            <a:custGeom>
              <a:avLst/>
              <a:gdLst/>
              <a:ahLst/>
              <a:cxnLst/>
              <a:rect l="l" t="t" r="r" b="b"/>
              <a:pathLst>
                <a:path w="5420106" h="469646">
                  <a:moveTo>
                    <a:pt x="5420106" y="0"/>
                  </a:moveTo>
                  <a:lnTo>
                    <a:pt x="0" y="0"/>
                  </a:lnTo>
                  <a:lnTo>
                    <a:pt x="0" y="469646"/>
                  </a:lnTo>
                  <a:lnTo>
                    <a:pt x="5420106" y="469646"/>
                  </a:lnTo>
                  <a:lnTo>
                    <a:pt x="5420106" y="0"/>
                  </a:lnTo>
                  <a:close/>
                </a:path>
              </a:pathLst>
            </a:custGeom>
            <a:solidFill>
              <a:srgbClr val="DB7563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767950" y="3085342"/>
            <a:ext cx="17130173" cy="3634753"/>
            <a:chOff x="0" y="0"/>
            <a:chExt cx="22840231" cy="48463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840231" cy="4846337"/>
            </a:xfrm>
            <a:custGeom>
              <a:avLst/>
              <a:gdLst/>
              <a:ahLst/>
              <a:cxnLst/>
              <a:rect l="l" t="t" r="r" b="b"/>
              <a:pathLst>
                <a:path w="22840231" h="4846337">
                  <a:moveTo>
                    <a:pt x="0" y="0"/>
                  </a:moveTo>
                  <a:lnTo>
                    <a:pt x="22840231" y="0"/>
                  </a:lnTo>
                  <a:lnTo>
                    <a:pt x="22840231" y="4846337"/>
                  </a:lnTo>
                  <a:lnTo>
                    <a:pt x="0" y="48463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2840231" cy="4846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415"/>
                </a:lnSpc>
              </a:pPr>
              <a:r>
                <a:rPr lang="en-US" sz="7845" b="1">
                  <a:solidFill>
                    <a:srgbClr val="434343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  </a:t>
              </a:r>
            </a:p>
            <a:p>
              <a:pPr algn="ctr">
                <a:lnSpc>
                  <a:spcPts val="9415"/>
                </a:lnSpc>
              </a:pPr>
              <a:endParaRPr lang="en-US" sz="7845" b="1">
                <a:solidFill>
                  <a:srgbClr val="434343"/>
                </a:solidFill>
                <a:latin typeface="Tahoma Bold"/>
                <a:ea typeface="Tahoma Bold"/>
                <a:cs typeface="Tahoma Bold"/>
                <a:sym typeface="Tahoma Bold"/>
              </a:endParaRPr>
            </a:p>
            <a:p>
              <a:pPr algn="ctr">
                <a:lnSpc>
                  <a:spcPts val="7076"/>
                </a:lnSpc>
              </a:pPr>
              <a:r>
                <a:rPr lang="en-US" sz="5896" b="1">
                  <a:solidFill>
                    <a:srgbClr val="434343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MENTAL HEALTH SUPPORT AI MODEL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7950" y="7634905"/>
            <a:ext cx="7635073" cy="1395266"/>
            <a:chOff x="0" y="0"/>
            <a:chExt cx="10180098" cy="18603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180098" cy="1860355"/>
            </a:xfrm>
            <a:custGeom>
              <a:avLst/>
              <a:gdLst/>
              <a:ahLst/>
              <a:cxnLst/>
              <a:rect l="l" t="t" r="r" b="b"/>
              <a:pathLst>
                <a:path w="10180098" h="1860355">
                  <a:moveTo>
                    <a:pt x="0" y="0"/>
                  </a:moveTo>
                  <a:lnTo>
                    <a:pt x="10180098" y="0"/>
                  </a:lnTo>
                  <a:lnTo>
                    <a:pt x="10180098" y="1860355"/>
                  </a:lnTo>
                  <a:lnTo>
                    <a:pt x="0" y="18603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0180098" cy="1927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58"/>
                </a:lnSpc>
              </a:pPr>
              <a:r>
                <a:rPr lang="en-US" sz="2798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H.O.D.:                                     Coordinator:-    </a:t>
              </a:r>
            </a:p>
            <a:p>
              <a:pPr algn="l">
                <a:lnSpc>
                  <a:spcPts val="3358"/>
                </a:lnSpc>
              </a:pPr>
              <a:r>
                <a:rPr lang="en-US" sz="2798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Dr. </a:t>
              </a:r>
              <a:r>
                <a:rPr lang="en-US" sz="2798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Kalpana</a:t>
              </a:r>
              <a:r>
                <a:rPr lang="en-US" sz="2798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798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</a:t>
              </a:r>
              <a:r>
                <a:rPr lang="en-US" sz="2798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</a:t>
              </a:r>
              <a:r>
                <a:rPr lang="en-US" sz="2798" dirty="0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Prof. </a:t>
              </a:r>
              <a:r>
                <a:rPr lang="en-US" sz="2798" dirty="0" err="1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Menali</a:t>
              </a:r>
              <a:r>
                <a:rPr lang="en-US" sz="2798" dirty="0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Paul</a:t>
              </a:r>
              <a:endParaRPr lang="en-US" sz="2798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358"/>
                </a:lnSpc>
              </a:pPr>
              <a:endParaRPr lang="en-US" sz="2798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>
            <a:off x="8307823" y="139309"/>
            <a:ext cx="1980169" cy="2313370"/>
          </a:xfrm>
          <a:custGeom>
            <a:avLst/>
            <a:gdLst/>
            <a:ahLst/>
            <a:cxnLst/>
            <a:rect l="l" t="t" r="r" b="b"/>
            <a:pathLst>
              <a:path w="1980169" h="2313370">
                <a:moveTo>
                  <a:pt x="0" y="0"/>
                </a:moveTo>
                <a:lnTo>
                  <a:pt x="1980169" y="0"/>
                </a:lnTo>
                <a:lnTo>
                  <a:pt x="1980169" y="2313371"/>
                </a:lnTo>
                <a:lnTo>
                  <a:pt x="0" y="23133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0287992" y="7598948"/>
            <a:ext cx="7539873" cy="2718911"/>
            <a:chOff x="0" y="0"/>
            <a:chExt cx="10053164" cy="362521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053164" cy="3625216"/>
            </a:xfrm>
            <a:custGeom>
              <a:avLst/>
              <a:gdLst/>
              <a:ahLst/>
              <a:cxnLst/>
              <a:rect l="l" t="t" r="r" b="b"/>
              <a:pathLst>
                <a:path w="10053164" h="3625216">
                  <a:moveTo>
                    <a:pt x="0" y="0"/>
                  </a:moveTo>
                  <a:lnTo>
                    <a:pt x="10053164" y="0"/>
                  </a:lnTo>
                  <a:lnTo>
                    <a:pt x="10053164" y="3625216"/>
                  </a:lnTo>
                  <a:lnTo>
                    <a:pt x="0" y="36252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10053164" cy="36918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58"/>
                </a:lnSpc>
              </a:pPr>
              <a:r>
                <a:rPr lang="en-US" sz="2798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Guided By:-                                    TEAM-Member:-</a:t>
              </a:r>
            </a:p>
            <a:p>
              <a:pPr algn="l">
                <a:lnSpc>
                  <a:spcPts val="2878"/>
                </a:lnSpc>
              </a:pPr>
              <a:r>
                <a:rPr lang="en-US" sz="2398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</a:t>
              </a:r>
              <a:r>
                <a:rPr lang="en-US" sz="2398" dirty="0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 </a:t>
              </a:r>
              <a:r>
                <a:rPr lang="en-US" sz="2398" dirty="0" err="1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Khusboo</a:t>
              </a:r>
              <a:r>
                <a:rPr lang="en-US" sz="2398" dirty="0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398" dirty="0" err="1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Bharadwaj</a:t>
              </a:r>
              <a:r>
                <a:rPr lang="en-US" sz="2398" dirty="0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</a:t>
              </a:r>
              <a:r>
                <a:rPr lang="en-US" sz="2398" dirty="0" err="1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Aamir</a:t>
              </a:r>
              <a:r>
                <a:rPr lang="en-US" sz="2398" dirty="0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398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Siddhiqui</a:t>
              </a:r>
              <a:endParaRPr lang="en-US" sz="2398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878"/>
                </a:lnSpc>
              </a:pPr>
              <a:r>
                <a:rPr lang="en-US" sz="2398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                                            </a:t>
              </a:r>
              <a:r>
                <a:rPr lang="en-US" sz="2398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Aman</a:t>
              </a:r>
              <a:r>
                <a:rPr lang="en-US" sz="2398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398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Saxena</a:t>
              </a:r>
              <a:endParaRPr lang="en-US" sz="2398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878"/>
                </a:lnSpc>
              </a:pPr>
              <a:r>
                <a:rPr lang="en-US" sz="2398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                                            </a:t>
              </a:r>
              <a:r>
                <a:rPr lang="en-US" sz="2398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Chirag</a:t>
              </a:r>
              <a:r>
                <a:rPr lang="en-US" sz="2398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Jain</a:t>
              </a:r>
            </a:p>
            <a:p>
              <a:pPr algn="l">
                <a:lnSpc>
                  <a:spcPts val="2878"/>
                </a:lnSpc>
              </a:pPr>
              <a:r>
                <a:rPr lang="en-US" sz="2398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                                            </a:t>
              </a:r>
              <a:r>
                <a:rPr lang="en-US" sz="2398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Madhur</a:t>
              </a:r>
              <a:r>
                <a:rPr lang="en-US" sz="2398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398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Choursia</a:t>
              </a:r>
              <a:endParaRPr lang="en-US" sz="2398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878"/>
                </a:lnSpc>
              </a:pPr>
              <a:endParaRPr lang="en-US" sz="2398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878"/>
                </a:lnSpc>
              </a:pPr>
              <a:r>
                <a:rPr lang="en-US" sz="2398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					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6431" y="2989203"/>
            <a:ext cx="16831434" cy="1322750"/>
            <a:chOff x="0" y="0"/>
            <a:chExt cx="22441912" cy="176366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441911" cy="1763667"/>
            </a:xfrm>
            <a:custGeom>
              <a:avLst/>
              <a:gdLst/>
              <a:ahLst/>
              <a:cxnLst/>
              <a:rect l="l" t="t" r="r" b="b"/>
              <a:pathLst>
                <a:path w="22441911" h="1763667">
                  <a:moveTo>
                    <a:pt x="0" y="0"/>
                  </a:moveTo>
                  <a:lnTo>
                    <a:pt x="22441911" y="0"/>
                  </a:lnTo>
                  <a:lnTo>
                    <a:pt x="22441911" y="1763667"/>
                  </a:lnTo>
                  <a:lnTo>
                    <a:pt x="0" y="17636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22441912" cy="18398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797"/>
                </a:lnSpc>
              </a:pPr>
              <a:r>
                <a:rPr lang="en-US" sz="3997">
                  <a:solidFill>
                    <a:srgbClr val="000000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SAGAR GROUP OF INSTITUTE  RESEARCH  AND  TECHNOLOGY,  BHOPAL</a:t>
              </a:r>
            </a:p>
            <a:p>
              <a:pPr algn="ctr">
                <a:lnSpc>
                  <a:spcPts val="4797"/>
                </a:lnSpc>
              </a:pPr>
              <a:r>
                <a:rPr lang="en-US" sz="3997">
                  <a:solidFill>
                    <a:srgbClr val="000000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DEPARTMENT OF  AIML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 rot="20117">
            <a:off x="-31891" y="7142682"/>
            <a:ext cx="18367648" cy="0"/>
          </a:xfrm>
          <a:prstGeom prst="line">
            <a:avLst/>
          </a:prstGeom>
          <a:ln w="57150" cap="rnd">
            <a:solidFill>
              <a:srgbClr val="C0504D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Orange Triangle Shape"/>
          <p:cNvSpPr/>
          <p:nvPr/>
        </p:nvSpPr>
        <p:spPr>
          <a:xfrm>
            <a:off x="780711" y="191505"/>
            <a:ext cx="894187" cy="1786099"/>
          </a:xfrm>
          <a:custGeom>
            <a:avLst/>
            <a:gdLst/>
            <a:ahLst/>
            <a:cxnLst/>
            <a:rect l="l" t="t" r="r" b="b"/>
            <a:pathLst>
              <a:path w="894187" h="1786099">
                <a:moveTo>
                  <a:pt x="0" y="0"/>
                </a:moveTo>
                <a:lnTo>
                  <a:pt x="894187" y="0"/>
                </a:lnTo>
                <a:lnTo>
                  <a:pt x="894187" y="1786098"/>
                </a:lnTo>
                <a:lnTo>
                  <a:pt x="0" y="1786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14350" y="1563626"/>
            <a:ext cx="5093390" cy="7159748"/>
          </a:xfrm>
          <a:custGeom>
            <a:avLst/>
            <a:gdLst/>
            <a:ahLst/>
            <a:cxnLst/>
            <a:rect l="l" t="t" r="r" b="b"/>
            <a:pathLst>
              <a:path w="5093390" h="7159748">
                <a:moveTo>
                  <a:pt x="0" y="0"/>
                </a:moveTo>
                <a:lnTo>
                  <a:pt x="5093390" y="0"/>
                </a:lnTo>
                <a:lnTo>
                  <a:pt x="5093390" y="7159748"/>
                </a:lnTo>
                <a:lnTo>
                  <a:pt x="0" y="71597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067987" y="1198856"/>
            <a:ext cx="9950719" cy="163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400"/>
              </a:lnSpc>
            </a:pPr>
            <a:r>
              <a:rPr lang="en-US" sz="9500" b="1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TOPICS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67987" y="4453914"/>
            <a:ext cx="9950719" cy="4443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Objective of Project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Problem Statement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Literature Survey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System Architecture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Work Flow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Technology Used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Result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Future Work &amp; Conclusion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References</a:t>
            </a:r>
          </a:p>
        </p:txBody>
      </p:sp>
      <p:sp>
        <p:nvSpPr>
          <p:cNvPr id="6" name="AutoShape 6"/>
          <p:cNvSpPr/>
          <p:nvPr/>
        </p:nvSpPr>
        <p:spPr>
          <a:xfrm rot="-5400000">
            <a:off x="-4119562" y="5138737"/>
            <a:ext cx="10287000" cy="0"/>
          </a:xfrm>
          <a:prstGeom prst="line">
            <a:avLst/>
          </a:prstGeom>
          <a:ln w="9525" cap="rnd">
            <a:solidFill>
              <a:srgbClr val="6B9BD9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12181" y="727293"/>
            <a:ext cx="11467231" cy="2283764"/>
            <a:chOff x="0" y="0"/>
            <a:chExt cx="15289641" cy="3045018"/>
          </a:xfrm>
        </p:grpSpPr>
        <p:sp>
          <p:nvSpPr>
            <p:cNvPr id="3" name="TextBox 3"/>
            <p:cNvSpPr txBox="1"/>
            <p:nvPr/>
          </p:nvSpPr>
          <p:spPr>
            <a:xfrm>
              <a:off x="0" y="2440755"/>
              <a:ext cx="15289641" cy="6042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28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5289641" cy="17297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549"/>
                </a:lnSpc>
              </a:pPr>
              <a:r>
                <a:rPr lang="en-US" sz="8549" b="1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Objective of Project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489965"/>
            <a:ext cx="894187" cy="1786099"/>
          </a:xfrm>
          <a:custGeom>
            <a:avLst/>
            <a:gdLst/>
            <a:ahLst/>
            <a:cxnLst/>
            <a:rect l="l" t="t" r="r" b="b"/>
            <a:pathLst>
              <a:path w="894187" h="1786099">
                <a:moveTo>
                  <a:pt x="0" y="0"/>
                </a:moveTo>
                <a:lnTo>
                  <a:pt x="894187" y="0"/>
                </a:lnTo>
                <a:lnTo>
                  <a:pt x="894187" y="1786099"/>
                </a:lnTo>
                <a:lnTo>
                  <a:pt x="0" y="17860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922887" y="3317579"/>
            <a:ext cx="13056589" cy="4584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4192" lvl="1" indent="-312096" algn="just">
              <a:lnSpc>
                <a:spcPts val="4047"/>
              </a:lnSpc>
              <a:buFont typeface="Arial"/>
              <a:buChar char="•"/>
            </a:pPr>
            <a:r>
              <a:rPr lang="en-US" sz="289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develop an AI-based Mental </a:t>
            </a:r>
            <a:r>
              <a:rPr lang="en-US" sz="2891" dirty="0" smtClean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Health Support </a:t>
            </a:r>
            <a:r>
              <a:rPr lang="en-US" sz="2891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Chatbot</a:t>
            </a:r>
            <a:r>
              <a:rPr lang="en-US" sz="289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just">
              <a:lnSpc>
                <a:spcPts val="4047"/>
              </a:lnSpc>
            </a:pPr>
            <a:endParaRPr lang="en-US" sz="2891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24192" lvl="1" indent="-312096" algn="just">
              <a:lnSpc>
                <a:spcPts val="4047"/>
              </a:lnSpc>
              <a:buFont typeface="Arial"/>
              <a:buChar char="•"/>
            </a:pPr>
            <a:r>
              <a:rPr lang="en-US" sz="289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Provide empathetic and supportive responses using NLP + LLM.</a:t>
            </a:r>
          </a:p>
          <a:p>
            <a:pPr algn="just">
              <a:lnSpc>
                <a:spcPts val="4047"/>
              </a:lnSpc>
            </a:pPr>
            <a:endParaRPr lang="en-US" sz="2891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24192" lvl="1" indent="-312096" algn="just">
              <a:lnSpc>
                <a:spcPts val="4047"/>
              </a:lnSpc>
              <a:buFont typeface="Arial"/>
              <a:buChar char="•"/>
            </a:pPr>
            <a:r>
              <a:rPr lang="en-US" sz="289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Detect user’s emotional state from text input.</a:t>
            </a:r>
          </a:p>
          <a:p>
            <a:pPr algn="just">
              <a:lnSpc>
                <a:spcPts val="4047"/>
              </a:lnSpc>
            </a:pPr>
            <a:endParaRPr lang="en-US" sz="2891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24192" lvl="1" indent="-312096" algn="just">
              <a:lnSpc>
                <a:spcPts val="4047"/>
              </a:lnSpc>
              <a:buFont typeface="Arial"/>
              <a:buChar char="•"/>
            </a:pPr>
            <a:r>
              <a:rPr lang="en-US" sz="289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Give private, accessible mental support without human hesitation.</a:t>
            </a:r>
          </a:p>
          <a:p>
            <a:pPr algn="just">
              <a:lnSpc>
                <a:spcPts val="4047"/>
              </a:lnSpc>
            </a:pPr>
            <a:r>
              <a:rPr lang="en-US" sz="289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</a:t>
            </a:r>
          </a:p>
          <a:p>
            <a:pPr marL="624192" lvl="1" indent="-312096" algn="just">
              <a:lnSpc>
                <a:spcPts val="4047"/>
              </a:lnSpc>
              <a:buFont typeface="Arial"/>
              <a:buChar char="•"/>
            </a:pPr>
            <a:r>
              <a:rPr lang="en-US" sz="289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Identify high-risk statements and guide user to helpline support.</a:t>
            </a:r>
          </a:p>
        </p:txBody>
      </p:sp>
      <p:sp>
        <p:nvSpPr>
          <p:cNvPr id="7" name="AutoShape 7"/>
          <p:cNvSpPr/>
          <p:nvPr/>
        </p:nvSpPr>
        <p:spPr>
          <a:xfrm>
            <a:off x="1922887" y="2295114"/>
            <a:ext cx="13844095" cy="0"/>
          </a:xfrm>
          <a:prstGeom prst="line">
            <a:avLst/>
          </a:prstGeom>
          <a:ln w="38100" cap="flat">
            <a:solidFill>
              <a:srgbClr val="3268A2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79445" y="652770"/>
            <a:ext cx="12639733" cy="2255830"/>
            <a:chOff x="0" y="0"/>
            <a:chExt cx="16852978" cy="3007773"/>
          </a:xfrm>
        </p:grpSpPr>
        <p:sp>
          <p:nvSpPr>
            <p:cNvPr id="3" name="TextBox 3"/>
            <p:cNvSpPr txBox="1"/>
            <p:nvPr/>
          </p:nvSpPr>
          <p:spPr>
            <a:xfrm>
              <a:off x="0" y="2403510"/>
              <a:ext cx="16852978" cy="6042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28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6852978" cy="17020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49"/>
                </a:lnSpc>
              </a:pPr>
              <a:r>
                <a:rPr lang="en-US" sz="8349" b="1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PROBLEM STATEMENT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489965"/>
            <a:ext cx="894187" cy="1786099"/>
          </a:xfrm>
          <a:custGeom>
            <a:avLst/>
            <a:gdLst/>
            <a:ahLst/>
            <a:cxnLst/>
            <a:rect l="l" t="t" r="r" b="b"/>
            <a:pathLst>
              <a:path w="894187" h="1786099">
                <a:moveTo>
                  <a:pt x="0" y="0"/>
                </a:moveTo>
                <a:lnTo>
                  <a:pt x="894187" y="0"/>
                </a:lnTo>
                <a:lnTo>
                  <a:pt x="894187" y="1786099"/>
                </a:lnTo>
                <a:lnTo>
                  <a:pt x="0" y="17860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922887" y="3074229"/>
            <a:ext cx="13056589" cy="6041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4192" lvl="1" indent="-312096" algn="just">
              <a:lnSpc>
                <a:spcPts val="4047"/>
              </a:lnSpc>
              <a:buFont typeface="Arial"/>
              <a:buChar char="•"/>
            </a:pPr>
            <a:r>
              <a:rPr lang="en-US" sz="289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Mental health issues are increasing rapidly in society.</a:t>
            </a:r>
          </a:p>
          <a:p>
            <a:pPr algn="just">
              <a:lnSpc>
                <a:spcPts val="4047"/>
              </a:lnSpc>
            </a:pPr>
            <a:endParaRPr lang="en-US" sz="2891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24192" lvl="1" indent="-312096" algn="just">
              <a:lnSpc>
                <a:spcPts val="4047"/>
              </a:lnSpc>
              <a:buFont typeface="Arial"/>
              <a:buChar char="•"/>
            </a:pPr>
            <a:r>
              <a:rPr lang="en-US" sz="289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Many individuals hesitate to talk openly about emotions with humans.</a:t>
            </a:r>
          </a:p>
          <a:p>
            <a:pPr algn="just">
              <a:lnSpc>
                <a:spcPts val="4047"/>
              </a:lnSpc>
            </a:pPr>
            <a:endParaRPr lang="en-US" sz="2891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24192" lvl="1" indent="-312096" algn="just">
              <a:lnSpc>
                <a:spcPts val="4047"/>
              </a:lnSpc>
              <a:buFont typeface="Arial"/>
              <a:buChar char="•"/>
            </a:pPr>
            <a:r>
              <a:rPr lang="en-US" sz="289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Lack of privacy, stigma &amp; judgment stops people from seeking help.</a:t>
            </a:r>
          </a:p>
          <a:p>
            <a:pPr algn="just">
              <a:lnSpc>
                <a:spcPts val="4047"/>
              </a:lnSpc>
            </a:pPr>
            <a:endParaRPr lang="en-US" sz="2891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24192" lvl="1" indent="-312096" algn="just">
              <a:lnSpc>
                <a:spcPts val="4047"/>
              </a:lnSpc>
              <a:buFont typeface="Arial"/>
              <a:buChar char="•"/>
            </a:pPr>
            <a:r>
              <a:rPr lang="en-US" sz="289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There is a need for an accessible, private &amp; non-judgemental support system.</a:t>
            </a:r>
          </a:p>
          <a:p>
            <a:pPr algn="just">
              <a:lnSpc>
                <a:spcPts val="4047"/>
              </a:lnSpc>
            </a:pPr>
            <a:endParaRPr lang="en-US" sz="2891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24192" lvl="1" indent="-312096" algn="just">
              <a:lnSpc>
                <a:spcPts val="4047"/>
              </a:lnSpc>
              <a:buFont typeface="Arial"/>
              <a:buChar char="•"/>
            </a:pPr>
            <a:r>
              <a:rPr lang="en-US" sz="289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Real-time emotional support and crisis detection is missing in traditional systems.</a:t>
            </a:r>
          </a:p>
          <a:p>
            <a:pPr algn="just">
              <a:lnSpc>
                <a:spcPts val="4047"/>
              </a:lnSpc>
            </a:pPr>
            <a:endParaRPr lang="en-US" sz="2891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922887" y="2295114"/>
            <a:ext cx="13844095" cy="0"/>
          </a:xfrm>
          <a:prstGeom prst="line">
            <a:avLst/>
          </a:prstGeom>
          <a:ln w="38100" cap="flat">
            <a:solidFill>
              <a:srgbClr val="3268A2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Orange Triangle Shape"/>
          <p:cNvSpPr/>
          <p:nvPr/>
        </p:nvSpPr>
        <p:spPr>
          <a:xfrm>
            <a:off x="1028700" y="489965"/>
            <a:ext cx="894187" cy="1786099"/>
          </a:xfrm>
          <a:custGeom>
            <a:avLst/>
            <a:gdLst/>
            <a:ahLst/>
            <a:cxnLst/>
            <a:rect l="l" t="t" r="r" b="b"/>
            <a:pathLst>
              <a:path w="894187" h="1786099">
                <a:moveTo>
                  <a:pt x="0" y="0"/>
                </a:moveTo>
                <a:lnTo>
                  <a:pt x="894187" y="0"/>
                </a:lnTo>
                <a:lnTo>
                  <a:pt x="894187" y="1786099"/>
                </a:lnTo>
                <a:lnTo>
                  <a:pt x="0" y="17860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568825" y="0"/>
            <a:ext cx="10756900" cy="10287000"/>
            <a:chOff x="0" y="0"/>
            <a:chExt cx="28330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33093" cy="2709333"/>
            </a:xfrm>
            <a:custGeom>
              <a:avLst/>
              <a:gdLst/>
              <a:ahLst/>
              <a:cxnLst/>
              <a:rect l="l" t="t" r="r" b="b"/>
              <a:pathLst>
                <a:path w="2833093" h="2709333">
                  <a:moveTo>
                    <a:pt x="0" y="0"/>
                  </a:moveTo>
                  <a:lnTo>
                    <a:pt x="2833093" y="0"/>
                  </a:lnTo>
                  <a:lnTo>
                    <a:pt x="283309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B9BD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2833093" cy="2814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28775" y="1383014"/>
            <a:ext cx="6029889" cy="3086149"/>
            <a:chOff x="0" y="0"/>
            <a:chExt cx="8039852" cy="4114865"/>
          </a:xfrm>
        </p:grpSpPr>
        <p:sp>
          <p:nvSpPr>
            <p:cNvPr id="7" name="TextBox 7"/>
            <p:cNvSpPr txBox="1"/>
            <p:nvPr/>
          </p:nvSpPr>
          <p:spPr>
            <a:xfrm>
              <a:off x="0" y="9525"/>
              <a:ext cx="8039852" cy="2628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963"/>
                </a:lnSpc>
                <a:spcBef>
                  <a:spcPct val="0"/>
                </a:spcBef>
              </a:pPr>
              <a:r>
                <a:rPr lang="en-US" sz="7179" b="1" u="none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LITERATURE SURVEY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90639"/>
              <a:ext cx="8039852" cy="1224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46"/>
                </a:lnSpc>
                <a:spcBef>
                  <a:spcPct val="0"/>
                </a:spcBef>
              </a:pPr>
              <a:r>
                <a:rPr lang="en-US" sz="2871" b="1" u="none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“Existing studies show AI chatbots can support emotional wellbeing”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8597900"/>
            <a:ext cx="1619250" cy="1689100"/>
            <a:chOff x="0" y="0"/>
            <a:chExt cx="426469" cy="44486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6469" cy="444866"/>
            </a:xfrm>
            <a:custGeom>
              <a:avLst/>
              <a:gdLst/>
              <a:ahLst/>
              <a:cxnLst/>
              <a:rect l="l" t="t" r="r" b="b"/>
              <a:pathLst>
                <a:path w="426469" h="444866">
                  <a:moveTo>
                    <a:pt x="0" y="0"/>
                  </a:moveTo>
                  <a:lnTo>
                    <a:pt x="426469" y="0"/>
                  </a:lnTo>
                  <a:lnTo>
                    <a:pt x="426469" y="444866"/>
                  </a:lnTo>
                  <a:lnTo>
                    <a:pt x="0" y="444866"/>
                  </a:lnTo>
                  <a:close/>
                </a:path>
              </a:pathLst>
            </a:custGeom>
            <a:solidFill>
              <a:srgbClr val="3268A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426469" cy="5496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1609725" y="-14077"/>
            <a:ext cx="19050" cy="10287000"/>
          </a:xfrm>
          <a:prstGeom prst="line">
            <a:avLst/>
          </a:prstGeom>
          <a:ln w="47625" cap="flat">
            <a:solidFill>
              <a:srgbClr val="3268A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>
            <a:off x="1922887" y="5469522"/>
            <a:ext cx="4835761" cy="3539021"/>
          </a:xfrm>
          <a:custGeom>
            <a:avLst/>
            <a:gdLst/>
            <a:ahLst/>
            <a:cxnLst/>
            <a:rect l="l" t="t" r="r" b="b"/>
            <a:pathLst>
              <a:path w="4835761" h="3539021">
                <a:moveTo>
                  <a:pt x="0" y="0"/>
                </a:moveTo>
                <a:lnTo>
                  <a:pt x="4835761" y="0"/>
                </a:lnTo>
                <a:lnTo>
                  <a:pt x="4835761" y="3539020"/>
                </a:lnTo>
                <a:lnTo>
                  <a:pt x="0" y="3539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241160" y="5511315"/>
            <a:ext cx="9208234" cy="393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r>
              <a:rPr lang="en-US" sz="2732" b="1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 3. Why AI-based Support Needed</a:t>
            </a:r>
          </a:p>
          <a:p>
            <a:pPr marL="589890" lvl="1" indent="-294945" algn="l">
              <a:lnSpc>
                <a:spcPts val="3825"/>
              </a:lnSpc>
              <a:buFont typeface="Arial"/>
              <a:buChar char="•"/>
            </a:pPr>
            <a:r>
              <a:rPr lang="en-US" sz="2732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Only a small percentage of people with mental health problems get proper help (book highlights service gap).</a:t>
            </a:r>
          </a:p>
          <a:p>
            <a:pPr marL="589890" lvl="1" indent="-294945" algn="l">
              <a:lnSpc>
                <a:spcPts val="3825"/>
              </a:lnSpc>
              <a:buFont typeface="Arial"/>
              <a:buChar char="•"/>
            </a:pPr>
            <a:r>
              <a:rPr lang="en-US" sz="2732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Real-time support + early emotional expression can reduce stress before it becomes illness.</a:t>
            </a:r>
          </a:p>
          <a:p>
            <a:pPr marL="589890" lvl="1" indent="-294945" algn="l">
              <a:lnSpc>
                <a:spcPts val="3825"/>
              </a:lnSpc>
              <a:buFont typeface="Arial"/>
              <a:buChar char="•"/>
            </a:pPr>
            <a:r>
              <a:rPr lang="en-US" sz="2732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AI chatbots can make mental health guidance more accessible &amp; non-judgmental.</a:t>
            </a:r>
          </a:p>
          <a:p>
            <a:pPr marL="0" lvl="0" indent="0" algn="l">
              <a:lnSpc>
                <a:spcPts val="3825"/>
              </a:lnSpc>
              <a:spcBef>
                <a:spcPct val="0"/>
              </a:spcBef>
            </a:pPr>
            <a:endParaRPr lang="en-US" sz="2732">
              <a:solidFill>
                <a:srgbClr val="FFFFFF"/>
              </a:solidFill>
              <a:latin typeface="Gill Sans Light"/>
              <a:ea typeface="Gill Sans Light"/>
              <a:cs typeface="Gill Sans Light"/>
              <a:sym typeface="Gill Sans Ligh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241160" y="2981857"/>
            <a:ext cx="9208234" cy="189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9"/>
              </a:lnSpc>
            </a:pPr>
            <a:r>
              <a:rPr lang="en-US" sz="2663" b="1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 2. Stigma Problem</a:t>
            </a:r>
          </a:p>
          <a:p>
            <a:pPr marL="575140" lvl="1" indent="-287570" algn="l">
              <a:lnSpc>
                <a:spcPts val="3729"/>
              </a:lnSpc>
              <a:buFont typeface="Arial"/>
              <a:buChar char="•"/>
            </a:pPr>
            <a:r>
              <a:rPr lang="en-US" sz="2663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People avoid talking about feelings due to fear of judgement.</a:t>
            </a:r>
          </a:p>
          <a:p>
            <a:pPr marL="575140" lvl="1" indent="-287570" algn="l">
              <a:lnSpc>
                <a:spcPts val="3729"/>
              </a:lnSpc>
              <a:buFont typeface="Arial"/>
              <a:buChar char="•"/>
            </a:pPr>
            <a:r>
              <a:rPr lang="en-US" sz="2663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Young people hesitate to seek help openly.</a:t>
            </a:r>
          </a:p>
          <a:p>
            <a:pPr marL="0" lvl="0" indent="0" algn="l">
              <a:lnSpc>
                <a:spcPts val="3729"/>
              </a:lnSpc>
              <a:spcBef>
                <a:spcPct val="0"/>
              </a:spcBef>
            </a:pPr>
            <a:endParaRPr lang="en-US" sz="2663">
              <a:solidFill>
                <a:srgbClr val="FFFFFF"/>
              </a:solidFill>
              <a:latin typeface="Gill Sans Light"/>
              <a:ea typeface="Gill Sans Light"/>
              <a:cs typeface="Gill Sans Light"/>
              <a:sym typeface="Gill Sans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718361" y="6796563"/>
            <a:ext cx="8305394" cy="442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0"/>
              </a:lnSpc>
              <a:spcBef>
                <a:spcPct val="0"/>
              </a:spcBef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418142" y="858359"/>
            <a:ext cx="8269696" cy="2067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6"/>
              </a:lnSpc>
            </a:pPr>
            <a:r>
              <a:rPr lang="en-US" sz="2647" b="1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1. Mental Health Research</a:t>
            </a:r>
          </a:p>
          <a:p>
            <a:pPr marL="571496" lvl="1" indent="-285748" algn="l">
              <a:lnSpc>
                <a:spcPts val="3176"/>
              </a:lnSpc>
              <a:buFont typeface="Arial"/>
              <a:buChar char="•"/>
            </a:pPr>
            <a:r>
              <a:rPr lang="en-US" sz="2647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WHO says mental health is more than absence of illness.</a:t>
            </a:r>
          </a:p>
          <a:p>
            <a:pPr marL="571496" lvl="1" indent="-285748" algn="l">
              <a:lnSpc>
                <a:spcPts val="3176"/>
              </a:lnSpc>
              <a:buFont typeface="Arial"/>
              <a:buChar char="•"/>
            </a:pPr>
            <a:r>
              <a:rPr lang="en-US" sz="2647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Mental health is affected by society, family, emotions.</a:t>
            </a:r>
          </a:p>
          <a:p>
            <a:pPr marL="0" lvl="0" indent="0" algn="l">
              <a:lnSpc>
                <a:spcPts val="3176"/>
              </a:lnSpc>
              <a:spcBef>
                <a:spcPct val="0"/>
              </a:spcBef>
            </a:pPr>
            <a:endParaRPr lang="en-US" sz="2647">
              <a:solidFill>
                <a:srgbClr val="FFFFFF"/>
              </a:solidFill>
              <a:latin typeface="Gill Sans Light"/>
              <a:ea typeface="Gill Sans Light"/>
              <a:cs typeface="Gill Sans Light"/>
              <a:sym typeface="Gill Sans Light"/>
            </a:endParaRPr>
          </a:p>
          <a:p>
            <a:pPr marL="0" lvl="0" indent="0" algn="l">
              <a:lnSpc>
                <a:spcPts val="3415"/>
              </a:lnSpc>
              <a:spcBef>
                <a:spcPct val="0"/>
              </a:spcBef>
            </a:pPr>
            <a:endParaRPr lang="en-US" sz="2647">
              <a:solidFill>
                <a:srgbClr val="FFFFFF"/>
              </a:solidFill>
              <a:latin typeface="Gill Sans Light"/>
              <a:ea typeface="Gill Sans Light"/>
              <a:cs typeface="Gill Sans Light"/>
              <a:sym typeface="Gill Sa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47647" y="3124371"/>
            <a:ext cx="10903051" cy="3026019"/>
          </a:xfrm>
          <a:custGeom>
            <a:avLst/>
            <a:gdLst/>
            <a:ahLst/>
            <a:cxnLst/>
            <a:rect l="l" t="t" r="r" b="b"/>
            <a:pathLst>
              <a:path w="10903051" h="3026019">
                <a:moveTo>
                  <a:pt x="0" y="0"/>
                </a:moveTo>
                <a:lnTo>
                  <a:pt x="10903051" y="0"/>
                </a:lnTo>
                <a:lnTo>
                  <a:pt x="10903051" y="3026019"/>
                </a:lnTo>
                <a:lnTo>
                  <a:pt x="0" y="3026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20" r="-2231" b="-877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31143" y="578229"/>
            <a:ext cx="12852942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112"/>
              </a:lnSpc>
            </a:pPr>
            <a:r>
              <a:rPr lang="en-US" sz="7593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SYSTEM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14554" y="552776"/>
            <a:ext cx="1348019" cy="1177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86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65472" y="6940965"/>
            <a:ext cx="17420252" cy="1118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1"/>
              </a:lnSpc>
            </a:pPr>
            <a:r>
              <a:rPr lang="en-US" sz="3243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architecture describes how our Mental Health Chatbot processes user queries and generates empathetic responses using Generative AI.</a:t>
            </a:r>
          </a:p>
        </p:txBody>
      </p:sp>
      <p:sp>
        <p:nvSpPr>
          <p:cNvPr id="6" name="Freeform 6"/>
          <p:cNvSpPr/>
          <p:nvPr/>
        </p:nvSpPr>
        <p:spPr>
          <a:xfrm>
            <a:off x="1028700" y="343965"/>
            <a:ext cx="894187" cy="1786099"/>
          </a:xfrm>
          <a:custGeom>
            <a:avLst/>
            <a:gdLst/>
            <a:ahLst/>
            <a:cxnLst/>
            <a:rect l="l" t="t" r="r" b="b"/>
            <a:pathLst>
              <a:path w="894187" h="1786099">
                <a:moveTo>
                  <a:pt x="0" y="0"/>
                </a:moveTo>
                <a:lnTo>
                  <a:pt x="894187" y="0"/>
                </a:lnTo>
                <a:lnTo>
                  <a:pt x="894187" y="1786099"/>
                </a:lnTo>
                <a:lnTo>
                  <a:pt x="0" y="17860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2134995" y="2061484"/>
            <a:ext cx="10971538" cy="68580"/>
          </a:xfrm>
          <a:prstGeom prst="line">
            <a:avLst/>
          </a:prstGeom>
          <a:ln w="38100" cap="flat">
            <a:solidFill>
              <a:srgbClr val="3268A2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79445" y="652770"/>
            <a:ext cx="12639733" cy="2255830"/>
            <a:chOff x="0" y="0"/>
            <a:chExt cx="16852978" cy="3007773"/>
          </a:xfrm>
        </p:grpSpPr>
        <p:sp>
          <p:nvSpPr>
            <p:cNvPr id="3" name="TextBox 3"/>
            <p:cNvSpPr txBox="1"/>
            <p:nvPr/>
          </p:nvSpPr>
          <p:spPr>
            <a:xfrm>
              <a:off x="0" y="2403510"/>
              <a:ext cx="16852978" cy="6042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28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6852978" cy="17020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49"/>
                </a:lnSpc>
              </a:pPr>
              <a:r>
                <a:rPr lang="en-US" sz="8349" b="1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WORK FLOW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489965"/>
            <a:ext cx="894187" cy="1786099"/>
          </a:xfrm>
          <a:custGeom>
            <a:avLst/>
            <a:gdLst/>
            <a:ahLst/>
            <a:cxnLst/>
            <a:rect l="l" t="t" r="r" b="b"/>
            <a:pathLst>
              <a:path w="894187" h="1786099">
                <a:moveTo>
                  <a:pt x="0" y="0"/>
                </a:moveTo>
                <a:lnTo>
                  <a:pt x="894187" y="0"/>
                </a:lnTo>
                <a:lnTo>
                  <a:pt x="894187" y="1786099"/>
                </a:lnTo>
                <a:lnTo>
                  <a:pt x="0" y="17860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1922887" y="2138904"/>
            <a:ext cx="13844095" cy="0"/>
          </a:xfrm>
          <a:prstGeom prst="line">
            <a:avLst/>
          </a:prstGeom>
          <a:ln w="38100" cap="flat">
            <a:solidFill>
              <a:srgbClr val="3268A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2655150" y="3577620"/>
            <a:ext cx="10722582" cy="3131761"/>
          </a:xfrm>
          <a:custGeom>
            <a:avLst/>
            <a:gdLst/>
            <a:ahLst/>
            <a:cxnLst/>
            <a:rect l="l" t="t" r="r" b="b"/>
            <a:pathLst>
              <a:path w="10722582" h="3131761">
                <a:moveTo>
                  <a:pt x="0" y="0"/>
                </a:moveTo>
                <a:lnTo>
                  <a:pt x="10722581" y="0"/>
                </a:lnTo>
                <a:lnTo>
                  <a:pt x="10722581" y="3131760"/>
                </a:lnTo>
                <a:lnTo>
                  <a:pt x="0" y="3131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065" b="-306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304844" y="746809"/>
            <a:ext cx="3577423" cy="5661621"/>
          </a:xfrm>
          <a:custGeom>
            <a:avLst/>
            <a:gdLst/>
            <a:ahLst/>
            <a:cxnLst/>
            <a:rect l="l" t="t" r="r" b="b"/>
            <a:pathLst>
              <a:path w="3577423" h="5661621">
                <a:moveTo>
                  <a:pt x="0" y="0"/>
                </a:moveTo>
                <a:lnTo>
                  <a:pt x="3577424" y="0"/>
                </a:lnTo>
                <a:lnTo>
                  <a:pt x="3577424" y="5661621"/>
                </a:lnTo>
                <a:lnTo>
                  <a:pt x="0" y="5661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44" r="-114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0" y="7725836"/>
            <a:ext cx="18288000" cy="735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9"/>
              </a:lnSpc>
              <a:spcBef>
                <a:spcPct val="0"/>
              </a:spcBef>
            </a:pPr>
            <a:r>
              <a:rPr lang="en-US" sz="2699" b="1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Combining semantic search (FAISS) + generative AI (Gemini Flash) ensures each response is context-aware, relevant, and empathetic.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4314948"/>
            <a:chOff x="0" y="0"/>
            <a:chExt cx="3444882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44882" cy="812800"/>
            </a:xfrm>
            <a:custGeom>
              <a:avLst/>
              <a:gdLst/>
              <a:ahLst/>
              <a:cxnLst/>
              <a:rect l="l" t="t" r="r" b="b"/>
              <a:pathLst>
                <a:path w="3444882" h="812800">
                  <a:moveTo>
                    <a:pt x="0" y="0"/>
                  </a:moveTo>
                  <a:lnTo>
                    <a:pt x="3444882" y="0"/>
                  </a:lnTo>
                  <a:lnTo>
                    <a:pt x="344488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90664" b="-9066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147632" y="3993627"/>
            <a:ext cx="597618" cy="597618"/>
            <a:chOff x="0" y="0"/>
            <a:chExt cx="6350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81B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440314" y="3993627"/>
            <a:ext cx="597618" cy="597618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81BD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8732996" y="3993627"/>
            <a:ext cx="597618" cy="597618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81B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025678" y="3993627"/>
            <a:ext cx="597618" cy="597618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81BD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5318360" y="3993627"/>
            <a:ext cx="597618" cy="597618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81BD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2237222" y="1413635"/>
            <a:ext cx="13775527" cy="113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90"/>
              </a:lnSpc>
            </a:pPr>
            <a:r>
              <a:rPr lang="en-US" sz="6300" b="1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WORK FLOW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28700" y="5295900"/>
            <a:ext cx="2835482" cy="2911034"/>
            <a:chOff x="0" y="0"/>
            <a:chExt cx="3780643" cy="3881378"/>
          </a:xfrm>
        </p:grpSpPr>
        <p:sp>
          <p:nvSpPr>
            <p:cNvPr id="16" name="TextBox 16"/>
            <p:cNvSpPr txBox="1"/>
            <p:nvPr/>
          </p:nvSpPr>
          <p:spPr>
            <a:xfrm>
              <a:off x="0" y="2591757"/>
              <a:ext cx="3780643" cy="12896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826"/>
                </a:lnSpc>
              </a:pPr>
              <a:r>
                <a:rPr lang="en-US" sz="2551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Example: “I am feeling stressed today.”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33" y="-66675"/>
              <a:ext cx="3776409" cy="23296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97"/>
                </a:lnSpc>
              </a:pPr>
              <a:r>
                <a:rPr lang="en-US" sz="2717" b="1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User enters emotional message in chat UI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21382" y="5295900"/>
            <a:ext cx="2835482" cy="3025334"/>
            <a:chOff x="0" y="0"/>
            <a:chExt cx="3780643" cy="4033778"/>
          </a:xfrm>
        </p:grpSpPr>
        <p:sp>
          <p:nvSpPr>
            <p:cNvPr id="19" name="TextBox 19"/>
            <p:cNvSpPr txBox="1"/>
            <p:nvPr/>
          </p:nvSpPr>
          <p:spPr>
            <a:xfrm>
              <a:off x="0" y="1448757"/>
              <a:ext cx="3780643" cy="25850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826"/>
                </a:lnSpc>
              </a:pPr>
              <a:r>
                <a:rPr lang="en-US" sz="2551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Sentence Transformers convert text → vector representation.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33" y="-66675"/>
              <a:ext cx="3776409" cy="11866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97"/>
                </a:lnSpc>
              </a:pPr>
              <a:r>
                <a:rPr lang="en-US" sz="2717" b="1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Text cleaning &amp; NLP embedding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14064" y="5295900"/>
            <a:ext cx="2835482" cy="2968184"/>
            <a:chOff x="0" y="0"/>
            <a:chExt cx="3780643" cy="3957578"/>
          </a:xfrm>
        </p:grpSpPr>
        <p:sp>
          <p:nvSpPr>
            <p:cNvPr id="22" name="TextBox 22"/>
            <p:cNvSpPr txBox="1"/>
            <p:nvPr/>
          </p:nvSpPr>
          <p:spPr>
            <a:xfrm>
              <a:off x="0" y="2020257"/>
              <a:ext cx="3780643" cy="19373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826"/>
                </a:lnSpc>
              </a:pPr>
              <a:r>
                <a:rPr lang="en-US" sz="2551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System fetches similar content from mental-health PDFs.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33" y="-66675"/>
              <a:ext cx="3776409" cy="17581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97"/>
                </a:lnSpc>
              </a:pPr>
              <a:r>
                <a:rPr lang="en-US" sz="2717" b="1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FAISS retrieves relevant knowledge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906746" y="5295900"/>
            <a:ext cx="2835482" cy="2968184"/>
            <a:chOff x="0" y="0"/>
            <a:chExt cx="3780643" cy="3957578"/>
          </a:xfrm>
        </p:grpSpPr>
        <p:sp>
          <p:nvSpPr>
            <p:cNvPr id="25" name="TextBox 25"/>
            <p:cNvSpPr txBox="1"/>
            <p:nvPr/>
          </p:nvSpPr>
          <p:spPr>
            <a:xfrm>
              <a:off x="0" y="2020257"/>
              <a:ext cx="3780643" cy="19373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826"/>
                </a:lnSpc>
              </a:pPr>
              <a:r>
                <a:rPr lang="en-US" sz="2551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LLM uses retrieved context + user text → supportive reply.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33" y="-66675"/>
              <a:ext cx="3776409" cy="17581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97"/>
                </a:lnSpc>
              </a:pPr>
              <a:r>
                <a:rPr lang="en-US" sz="2717" b="1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Gemini Flash generates final response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199428" y="5295900"/>
            <a:ext cx="2835482" cy="3396809"/>
            <a:chOff x="0" y="0"/>
            <a:chExt cx="3780643" cy="4529078"/>
          </a:xfrm>
        </p:grpSpPr>
        <p:sp>
          <p:nvSpPr>
            <p:cNvPr id="28" name="TextBox 28"/>
            <p:cNvSpPr txBox="1"/>
            <p:nvPr/>
          </p:nvSpPr>
          <p:spPr>
            <a:xfrm>
              <a:off x="0" y="2591757"/>
              <a:ext cx="3780643" cy="19373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826"/>
                </a:lnSpc>
              </a:pPr>
              <a:r>
                <a:rPr lang="en-US" sz="2551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Response shown instantly in Streamlit UI.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33" y="-66675"/>
              <a:ext cx="3776409" cy="23296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97"/>
                </a:lnSpc>
              </a:pPr>
              <a:r>
                <a:rPr lang="en-US" sz="2717" b="1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Chatbot displays friendly &amp; empathetic answer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Orange Triangle Shape"/>
          <p:cNvSpPr/>
          <p:nvPr/>
        </p:nvSpPr>
        <p:spPr>
          <a:xfrm>
            <a:off x="780711" y="191505"/>
            <a:ext cx="894187" cy="1786099"/>
          </a:xfrm>
          <a:custGeom>
            <a:avLst/>
            <a:gdLst/>
            <a:ahLst/>
            <a:cxnLst/>
            <a:rect l="l" t="t" r="r" b="b"/>
            <a:pathLst>
              <a:path w="894187" h="1786099">
                <a:moveTo>
                  <a:pt x="0" y="0"/>
                </a:moveTo>
                <a:lnTo>
                  <a:pt x="894187" y="0"/>
                </a:lnTo>
                <a:lnTo>
                  <a:pt x="894187" y="1786098"/>
                </a:lnTo>
                <a:lnTo>
                  <a:pt x="0" y="1786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6555308" y="4088276"/>
            <a:ext cx="74483" cy="3973647"/>
          </a:xfrm>
          <a:prstGeom prst="rect">
            <a:avLst/>
          </a:prstGeom>
          <a:solidFill>
            <a:srgbClr val="6B9BD9"/>
          </a:solidFill>
        </p:spPr>
      </p:sp>
      <p:sp>
        <p:nvSpPr>
          <p:cNvPr id="4" name="Freeform 4"/>
          <p:cNvSpPr/>
          <p:nvPr/>
        </p:nvSpPr>
        <p:spPr>
          <a:xfrm>
            <a:off x="16306800" y="3830843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344042" y="4952971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306800" y="6364572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269558" y="7776173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59778" y="4116593"/>
            <a:ext cx="3310698" cy="5902714"/>
          </a:xfrm>
          <a:custGeom>
            <a:avLst/>
            <a:gdLst/>
            <a:ahLst/>
            <a:cxnLst/>
            <a:rect l="l" t="t" r="r" b="b"/>
            <a:pathLst>
              <a:path w="3310698" h="5902714">
                <a:moveTo>
                  <a:pt x="0" y="0"/>
                </a:moveTo>
                <a:lnTo>
                  <a:pt x="3310698" y="0"/>
                </a:lnTo>
                <a:lnTo>
                  <a:pt x="3310698" y="5902714"/>
                </a:lnTo>
                <a:lnTo>
                  <a:pt x="0" y="59027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7885" r="-47885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1961598" y="410501"/>
            <a:ext cx="14742765" cy="1271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690"/>
              </a:lnSpc>
            </a:pPr>
            <a:r>
              <a:rPr lang="en-US" sz="7900" b="1" u="none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TECHNOLOGY USED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16535" y="3736750"/>
            <a:ext cx="12720545" cy="836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</a:pPr>
            <a:r>
              <a:rPr lang="en-US" sz="2300" b="1" u="none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Streamlit is used to build an interactive web-based chat interface where users can easily express their feelings.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50920" y="7694443"/>
            <a:ext cx="12186161" cy="836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</a:pPr>
            <a:r>
              <a:rPr lang="en-US" sz="2300" b="1" u="none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FAISS Vector Database stores and retrieves relevant information from mental-health PDFs for context-driven answers.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50920" y="4706301"/>
            <a:ext cx="12186161" cy="2642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3"/>
              </a:lnSpc>
            </a:pPr>
            <a:r>
              <a:rPr lang="en-US" sz="2295" b="1" u="none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Sentence Transformers convert user text into vector embeddings to understand meaning, tone and contex</a:t>
            </a:r>
          </a:p>
          <a:p>
            <a:pPr marL="0" lvl="0" indent="0" algn="ctr">
              <a:lnSpc>
                <a:spcPts val="2653"/>
              </a:lnSpc>
            </a:pPr>
            <a:r>
              <a:rPr lang="en-US" sz="1895" b="1" u="none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t</a:t>
            </a:r>
          </a:p>
          <a:p>
            <a:pPr marL="0" lvl="0" indent="0" algn="r">
              <a:lnSpc>
                <a:spcPts val="2653"/>
              </a:lnSpc>
            </a:pPr>
            <a:r>
              <a:rPr lang="en-US" sz="1895" b="1" u="none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.</a:t>
            </a:r>
          </a:p>
          <a:p>
            <a:pPr marL="0" lvl="0" indent="0" algn="ctr">
              <a:lnSpc>
                <a:spcPts val="3213"/>
              </a:lnSpc>
            </a:pPr>
            <a:r>
              <a:rPr lang="en-US" sz="2295" b="1" u="none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Google Gemini Flash model is used as the main Generative AI engine to produce empathetic, mental-health aligned responses</a:t>
            </a:r>
          </a:p>
          <a:p>
            <a:pPr marL="0" lvl="0" indent="0" algn="r">
              <a:lnSpc>
                <a:spcPts val="2653"/>
              </a:lnSpc>
            </a:pPr>
            <a:r>
              <a:rPr lang="en-US" sz="1895" b="1" u="none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Orange Triangle Shape"/>
          <p:cNvSpPr/>
          <p:nvPr/>
        </p:nvSpPr>
        <p:spPr>
          <a:xfrm>
            <a:off x="780711" y="191505"/>
            <a:ext cx="894187" cy="1786099"/>
          </a:xfrm>
          <a:custGeom>
            <a:avLst/>
            <a:gdLst/>
            <a:ahLst/>
            <a:cxnLst/>
            <a:rect l="l" t="t" r="r" b="b"/>
            <a:pathLst>
              <a:path w="894187" h="1786099">
                <a:moveTo>
                  <a:pt x="0" y="0"/>
                </a:moveTo>
                <a:lnTo>
                  <a:pt x="894187" y="0"/>
                </a:lnTo>
                <a:lnTo>
                  <a:pt x="894187" y="1786098"/>
                </a:lnTo>
                <a:lnTo>
                  <a:pt x="0" y="1786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80711" y="2403060"/>
            <a:ext cx="9526589" cy="5987515"/>
            <a:chOff x="0" y="0"/>
            <a:chExt cx="12702119" cy="7983353"/>
          </a:xfrm>
        </p:grpSpPr>
        <p:sp>
          <p:nvSpPr>
            <p:cNvPr id="4" name="TextBox 4"/>
            <p:cNvSpPr txBox="1"/>
            <p:nvPr/>
          </p:nvSpPr>
          <p:spPr>
            <a:xfrm>
              <a:off x="0" y="795244"/>
              <a:ext cx="12702119" cy="15695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49"/>
                </a:lnSpc>
              </a:pPr>
              <a:r>
                <a:rPr lang="en-US" sz="3499" b="1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Following results achieved :</a:t>
              </a:r>
            </a:p>
            <a:p>
              <a:pPr marL="0" lvl="0" indent="0" algn="l">
                <a:lnSpc>
                  <a:spcPts val="4549"/>
                </a:lnSpc>
              </a:pPr>
              <a:endParaRPr lang="en-US" sz="3499" b="1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726799"/>
              <a:ext cx="12702119" cy="4339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339"/>
                </a:lnSpc>
              </a:pPr>
              <a:r>
                <a:rPr lang="en-US" sz="2892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 • The chatbot is able to generate emotionally supportive and               context-aware responses based on user inputs.  </a:t>
              </a:r>
            </a:p>
            <a:p>
              <a:pPr marL="0" lvl="0" indent="0" algn="just">
                <a:lnSpc>
                  <a:spcPts val="4339"/>
                </a:lnSpc>
              </a:pPr>
              <a:endParaRPr lang="en-US" sz="2892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endParaRPr>
            </a:p>
            <a:p>
              <a:pPr marL="624593" lvl="1" indent="-312297" algn="just">
                <a:lnSpc>
                  <a:spcPts val="4339"/>
                </a:lnSpc>
                <a:buFont typeface="Arial"/>
                <a:buChar char="•"/>
              </a:pPr>
              <a:r>
                <a:rPr lang="en-US" sz="2892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It provides human-like guidance by combining semantic retrieval (FAISS) with Gemini Flash generative reasoning.</a:t>
              </a:r>
            </a:p>
            <a:p>
              <a:pPr marL="0" lvl="0" indent="0" algn="l">
                <a:lnSpc>
                  <a:spcPts val="4339"/>
                </a:lnSpc>
              </a:pPr>
              <a:endParaRPr lang="en-US" sz="2892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endParaRPr>
            </a:p>
          </p:txBody>
        </p:sp>
        <p:sp>
          <p:nvSpPr>
            <p:cNvPr id="6" name="AutoShape 6"/>
            <p:cNvSpPr/>
            <p:nvPr/>
          </p:nvSpPr>
          <p:spPr>
            <a:xfrm>
              <a:off x="0" y="7964303"/>
              <a:ext cx="12702119" cy="0"/>
            </a:xfrm>
            <a:prstGeom prst="line">
              <a:avLst/>
            </a:prstGeom>
            <a:ln w="38100" cap="rnd">
              <a:solidFill>
                <a:srgbClr val="E8EBE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AutoShape 7"/>
            <p:cNvSpPr/>
            <p:nvPr/>
          </p:nvSpPr>
          <p:spPr>
            <a:xfrm>
              <a:off x="0" y="19050"/>
              <a:ext cx="12702119" cy="0"/>
            </a:xfrm>
            <a:prstGeom prst="line">
              <a:avLst/>
            </a:prstGeom>
            <a:ln w="38100" cap="rnd">
              <a:solidFill>
                <a:srgbClr val="E8EBED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907941" y="716744"/>
            <a:ext cx="9269393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199"/>
              </a:lnSpc>
            </a:pPr>
            <a:r>
              <a:rPr lang="en-US" sz="8499" b="1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RESULT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1846" y="495300"/>
            <a:ext cx="7165704" cy="3952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1846" y="6379212"/>
            <a:ext cx="6904037" cy="199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Orange Triangle Shape"/>
          <p:cNvSpPr/>
          <p:nvPr/>
        </p:nvSpPr>
        <p:spPr>
          <a:xfrm>
            <a:off x="780711" y="191505"/>
            <a:ext cx="894187" cy="1786099"/>
          </a:xfrm>
          <a:custGeom>
            <a:avLst/>
            <a:gdLst/>
            <a:ahLst/>
            <a:cxnLst/>
            <a:rect l="l" t="t" r="r" b="b"/>
            <a:pathLst>
              <a:path w="894187" h="1786099">
                <a:moveTo>
                  <a:pt x="0" y="0"/>
                </a:moveTo>
                <a:lnTo>
                  <a:pt x="894187" y="0"/>
                </a:lnTo>
                <a:lnTo>
                  <a:pt x="894187" y="1786098"/>
                </a:lnTo>
                <a:lnTo>
                  <a:pt x="0" y="1786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596386" y="182792"/>
            <a:ext cx="9494803" cy="9921417"/>
            <a:chOff x="0" y="0"/>
            <a:chExt cx="12659737" cy="13228556"/>
          </a:xfrm>
        </p:grpSpPr>
        <p:sp>
          <p:nvSpPr>
            <p:cNvPr id="4" name="TextBox 4"/>
            <p:cNvSpPr txBox="1"/>
            <p:nvPr/>
          </p:nvSpPr>
          <p:spPr>
            <a:xfrm>
              <a:off x="0" y="1874756"/>
              <a:ext cx="12659737" cy="11353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18"/>
                </a:lnSpc>
                <a:spcBef>
                  <a:spcPct val="0"/>
                </a:spcBef>
              </a:pPr>
              <a:endParaRPr/>
            </a:p>
            <a:p>
              <a:pPr marL="0" lvl="0" indent="0" algn="l">
                <a:lnSpc>
                  <a:spcPts val="4578"/>
                </a:lnSpc>
                <a:spcBef>
                  <a:spcPct val="0"/>
                </a:spcBef>
              </a:pPr>
              <a:endParaRPr/>
            </a:p>
            <a:p>
              <a:pPr marL="0" lvl="0" indent="0" algn="l">
                <a:lnSpc>
                  <a:spcPts val="3258"/>
                </a:lnSpc>
                <a:spcBef>
                  <a:spcPct val="0"/>
                </a:spcBef>
              </a:pPr>
              <a:r>
                <a:rPr lang="en-US" sz="2715" b="1" u="none" strike="noStrike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Real-Time Emotion Detection</a:t>
              </a:r>
            </a:p>
            <a:p>
              <a:pPr marL="0" lvl="0" indent="0" algn="l">
                <a:lnSpc>
                  <a:spcPts val="3258"/>
                </a:lnSpc>
                <a:spcBef>
                  <a:spcPct val="0"/>
                </a:spcBef>
              </a:pPr>
              <a:r>
                <a:rPr lang="en-US" sz="2715" b="1" u="none" strike="noStrike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 ➤ </a:t>
              </a:r>
              <a:r>
                <a:rPr lang="en-US" sz="2715" u="none" strike="noStrike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Use sentiment + emotion classifiers to detect deep emotional states (stress / anxiety / depression levels)</a:t>
              </a:r>
            </a:p>
            <a:p>
              <a:pPr marL="0" lvl="0" indent="0" algn="l">
                <a:lnSpc>
                  <a:spcPts val="3258"/>
                </a:lnSpc>
                <a:spcBef>
                  <a:spcPct val="0"/>
                </a:spcBef>
              </a:pPr>
              <a:endParaRPr lang="en-US" sz="2715" u="none" strike="noStrike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endParaRPr>
            </a:p>
            <a:p>
              <a:pPr marL="0" lvl="0" indent="0" algn="l">
                <a:lnSpc>
                  <a:spcPts val="3258"/>
                </a:lnSpc>
                <a:spcBef>
                  <a:spcPct val="0"/>
                </a:spcBef>
              </a:pPr>
              <a:r>
                <a:rPr lang="en-US" sz="2715" b="1" u="none" strike="noStrike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Voice Based Interaction</a:t>
              </a:r>
            </a:p>
            <a:p>
              <a:pPr marL="0" lvl="0" indent="0" algn="l">
                <a:lnSpc>
                  <a:spcPts val="3258"/>
                </a:lnSpc>
                <a:spcBef>
                  <a:spcPct val="0"/>
                </a:spcBef>
              </a:pPr>
              <a:r>
                <a:rPr lang="en-US" sz="2715" b="1" u="none" strike="noStrike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 ➤</a:t>
              </a:r>
              <a:r>
                <a:rPr lang="en-US" sz="2715" u="none" strike="noStrike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Add voice input so users can speak instead of typing (better accessibility)</a:t>
              </a:r>
            </a:p>
            <a:p>
              <a:pPr marL="0" lvl="0" indent="0" algn="l">
                <a:lnSpc>
                  <a:spcPts val="3258"/>
                </a:lnSpc>
                <a:spcBef>
                  <a:spcPct val="0"/>
                </a:spcBef>
              </a:pPr>
              <a:endParaRPr lang="en-US" sz="2715" u="none" strike="noStrike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endParaRPr>
            </a:p>
            <a:p>
              <a:pPr marL="0" lvl="0" indent="0" algn="l">
                <a:lnSpc>
                  <a:spcPts val="3258"/>
                </a:lnSpc>
                <a:spcBef>
                  <a:spcPct val="0"/>
                </a:spcBef>
              </a:pPr>
              <a:r>
                <a:rPr lang="en-US" sz="2715" b="1" u="none" strike="noStrike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Personalization Layer</a:t>
              </a:r>
            </a:p>
            <a:p>
              <a:pPr marL="0" lvl="0" indent="0" algn="l">
                <a:lnSpc>
                  <a:spcPts val="3258"/>
                </a:lnSpc>
                <a:spcBef>
                  <a:spcPct val="0"/>
                </a:spcBef>
              </a:pPr>
              <a:r>
                <a:rPr lang="en-US" sz="2715" b="1" u="none" strike="noStrike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 ➤ </a:t>
              </a:r>
              <a:r>
                <a:rPr lang="en-US" sz="2715" u="none" strike="noStrike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Maintain user history to provide continuous, personalized emotional progress tracking</a:t>
              </a:r>
            </a:p>
            <a:p>
              <a:pPr marL="0" lvl="0" indent="0" algn="l">
                <a:lnSpc>
                  <a:spcPts val="3258"/>
                </a:lnSpc>
                <a:spcBef>
                  <a:spcPct val="0"/>
                </a:spcBef>
              </a:pPr>
              <a:endParaRPr lang="en-US" sz="2715" u="none" strike="noStrike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endParaRPr>
            </a:p>
            <a:p>
              <a:pPr marL="0" lvl="0" indent="0" algn="l">
                <a:lnSpc>
                  <a:spcPts val="3258"/>
                </a:lnSpc>
                <a:spcBef>
                  <a:spcPct val="0"/>
                </a:spcBef>
              </a:pPr>
              <a:r>
                <a:rPr lang="en-US" sz="2715" b="1" u="none" strike="noStrike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Clinical Expert Integration</a:t>
              </a:r>
            </a:p>
            <a:p>
              <a:pPr marL="0" lvl="0" indent="0" algn="l">
                <a:lnSpc>
                  <a:spcPts val="3258"/>
                </a:lnSpc>
                <a:spcBef>
                  <a:spcPct val="0"/>
                </a:spcBef>
              </a:pPr>
              <a:r>
                <a:rPr lang="en-US" sz="2715" b="1" u="none" strike="noStrike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 ➤ </a:t>
              </a:r>
              <a:r>
                <a:rPr lang="en-US" sz="2715" u="none" strike="noStrike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Connect with verified mental-health professionals or government-approved datasets to increase reliability</a:t>
              </a:r>
            </a:p>
            <a:p>
              <a:pPr marL="0" lvl="0" indent="0" algn="l">
                <a:lnSpc>
                  <a:spcPts val="3258"/>
                </a:lnSpc>
                <a:spcBef>
                  <a:spcPct val="0"/>
                </a:spcBef>
              </a:pPr>
              <a:endParaRPr lang="en-US" sz="2715" u="none" strike="noStrike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endParaRPr>
            </a:p>
            <a:p>
              <a:pPr marL="0" lvl="0" indent="0" algn="l">
                <a:lnSpc>
                  <a:spcPts val="3258"/>
                </a:lnSpc>
                <a:spcBef>
                  <a:spcPct val="0"/>
                </a:spcBef>
              </a:pPr>
              <a:endParaRPr lang="en-US" sz="2715" u="none" strike="noStrike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endParaRPr>
            </a:p>
            <a:p>
              <a:pPr marL="0" lvl="0" indent="0" algn="l">
                <a:lnSpc>
                  <a:spcPts val="3018"/>
                </a:lnSpc>
                <a:spcBef>
                  <a:spcPct val="0"/>
                </a:spcBef>
              </a:pPr>
              <a:endParaRPr lang="en-US" sz="2715" u="none" strike="noStrike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12659737" cy="1365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““How can this Mental Health Support System improve further using AI?””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68246" y="677589"/>
            <a:ext cx="5269152" cy="2500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517"/>
              </a:lnSpc>
              <a:spcBef>
                <a:spcPct val="0"/>
              </a:spcBef>
            </a:pPr>
            <a:r>
              <a:rPr lang="en-US" sz="7242" b="1" u="none" strike="noStrike" dirty="0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Future Work &amp; Conclusion</a:t>
            </a:r>
          </a:p>
        </p:txBody>
      </p:sp>
      <p:sp>
        <p:nvSpPr>
          <p:cNvPr id="7" name="AutoShape 7"/>
          <p:cNvSpPr/>
          <p:nvPr/>
        </p:nvSpPr>
        <p:spPr>
          <a:xfrm>
            <a:off x="0" y="704643"/>
            <a:ext cx="18288049" cy="9525"/>
          </a:xfrm>
          <a:prstGeom prst="line">
            <a:avLst/>
          </a:prstGeom>
          <a:ln w="19050" cap="flat">
            <a:solidFill>
              <a:srgbClr val="6B9BD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flipV="1">
            <a:off x="6908964" y="0"/>
            <a:ext cx="0" cy="10395005"/>
          </a:xfrm>
          <a:prstGeom prst="line">
            <a:avLst/>
          </a:prstGeom>
          <a:ln w="19050" cap="flat">
            <a:solidFill>
              <a:srgbClr val="6B9BD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687598" y="5379079"/>
            <a:ext cx="3915260" cy="4185861"/>
          </a:xfrm>
          <a:custGeom>
            <a:avLst/>
            <a:gdLst/>
            <a:ahLst/>
            <a:cxnLst/>
            <a:rect l="l" t="t" r="r" b="b"/>
            <a:pathLst>
              <a:path w="3915260" h="4185861">
                <a:moveTo>
                  <a:pt x="0" y="0"/>
                </a:moveTo>
                <a:lnTo>
                  <a:pt x="3915260" y="0"/>
                </a:lnTo>
                <a:lnTo>
                  <a:pt x="3915260" y="4185862"/>
                </a:lnTo>
                <a:lnTo>
                  <a:pt x="0" y="4185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68246" y="4216400"/>
            <a:ext cx="5054918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Orange Triangle Shape"/>
          <p:cNvSpPr/>
          <p:nvPr/>
        </p:nvSpPr>
        <p:spPr>
          <a:xfrm>
            <a:off x="780711" y="191505"/>
            <a:ext cx="894187" cy="1786099"/>
          </a:xfrm>
          <a:custGeom>
            <a:avLst/>
            <a:gdLst/>
            <a:ahLst/>
            <a:cxnLst/>
            <a:rect l="l" t="t" r="r" b="b"/>
            <a:pathLst>
              <a:path w="894187" h="1786099">
                <a:moveTo>
                  <a:pt x="0" y="0"/>
                </a:moveTo>
                <a:lnTo>
                  <a:pt x="894187" y="0"/>
                </a:lnTo>
                <a:lnTo>
                  <a:pt x="894187" y="1786098"/>
                </a:lnTo>
                <a:lnTo>
                  <a:pt x="0" y="1786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692087" y="897965"/>
            <a:ext cx="9220200" cy="8854617"/>
            <a:chOff x="0" y="0"/>
            <a:chExt cx="12293600" cy="11806156"/>
          </a:xfrm>
        </p:grpSpPr>
        <p:sp>
          <p:nvSpPr>
            <p:cNvPr id="4" name="TextBox 4"/>
            <p:cNvSpPr txBox="1"/>
            <p:nvPr/>
          </p:nvSpPr>
          <p:spPr>
            <a:xfrm>
              <a:off x="0" y="1874756"/>
              <a:ext cx="12293600" cy="9931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18"/>
                </a:lnSpc>
              </a:pPr>
              <a:endParaRPr/>
            </a:p>
            <a:p>
              <a:pPr marL="650984" lvl="1" indent="-325492" algn="l">
                <a:lnSpc>
                  <a:spcPts val="3618"/>
                </a:lnSpc>
                <a:buFont typeface="Arial"/>
                <a:buChar char="•"/>
              </a:pPr>
              <a:r>
                <a:rPr lang="en-US" sz="3015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Developed an AI-powered Mental Health Chatbot capable of generating supportive and empathetic responses</a:t>
              </a:r>
            </a:p>
            <a:p>
              <a:pPr algn="l">
                <a:lnSpc>
                  <a:spcPts val="3618"/>
                </a:lnSpc>
              </a:pPr>
              <a:endParaRPr lang="en-US" sz="3015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endParaRPr>
            </a:p>
            <a:p>
              <a:pPr marL="650984" lvl="1" indent="-325492" algn="l">
                <a:lnSpc>
                  <a:spcPts val="3618"/>
                </a:lnSpc>
                <a:buFont typeface="Arial"/>
                <a:buChar char="•"/>
              </a:pPr>
              <a:r>
                <a:rPr lang="en-US" sz="3015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Integrated Google Gemini Flash model to produce human-like emotional guidance</a:t>
              </a:r>
            </a:p>
            <a:p>
              <a:pPr algn="l">
                <a:lnSpc>
                  <a:spcPts val="3618"/>
                </a:lnSpc>
              </a:pPr>
              <a:endParaRPr lang="en-US" sz="3015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endParaRPr>
            </a:p>
            <a:p>
              <a:pPr marL="650984" lvl="1" indent="-325492" algn="l">
                <a:lnSpc>
                  <a:spcPts val="3618"/>
                </a:lnSpc>
                <a:buFont typeface="Arial"/>
                <a:buChar char="•"/>
              </a:pPr>
              <a:r>
                <a:rPr lang="en-US" sz="3015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Used Sentence Transformers + FAISS to retrieve relevant context from mental-health research PDFs</a:t>
              </a:r>
            </a:p>
            <a:p>
              <a:pPr algn="l">
                <a:lnSpc>
                  <a:spcPts val="3618"/>
                </a:lnSpc>
              </a:pPr>
              <a:endParaRPr lang="en-US" sz="3015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endParaRPr>
            </a:p>
            <a:p>
              <a:pPr marL="650984" lvl="1" indent="-325492" algn="l">
                <a:lnSpc>
                  <a:spcPts val="3618"/>
                </a:lnSpc>
                <a:buFont typeface="Arial"/>
                <a:buChar char="•"/>
              </a:pPr>
              <a:r>
                <a:rPr lang="en-US" sz="3015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Built a Streamlit-based web app for live user interaction</a:t>
              </a:r>
            </a:p>
            <a:p>
              <a:pPr algn="l">
                <a:lnSpc>
                  <a:spcPts val="3618"/>
                </a:lnSpc>
              </a:pPr>
              <a:endParaRPr lang="en-US" sz="3015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endParaRPr>
            </a:p>
            <a:p>
              <a:pPr marL="650984" lvl="1" indent="-325492" algn="l">
                <a:lnSpc>
                  <a:spcPts val="361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15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Project demonstrates how AI can assist early-stage emotional support and promote mental-wellbeing</a:t>
              </a:r>
            </a:p>
            <a:p>
              <a:pPr marL="0" lvl="0" indent="0" algn="l">
                <a:lnSpc>
                  <a:spcPts val="3618"/>
                </a:lnSpc>
                <a:spcBef>
                  <a:spcPct val="0"/>
                </a:spcBef>
              </a:pPr>
              <a:endParaRPr lang="en-US" sz="3015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12293600" cy="1365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“What if emotional support conversations could be enhanced by AI?”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80711" y="517702"/>
            <a:ext cx="5656687" cy="2500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517"/>
              </a:lnSpc>
              <a:spcBef>
                <a:spcPct val="0"/>
              </a:spcBef>
            </a:pPr>
            <a:r>
              <a:rPr lang="en-US" sz="7242" b="1" u="none" strike="noStrike" dirty="0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Future Work &amp; Conclusion</a:t>
            </a:r>
          </a:p>
        </p:txBody>
      </p:sp>
      <p:sp>
        <p:nvSpPr>
          <p:cNvPr id="7" name="AutoShape 7"/>
          <p:cNvSpPr/>
          <p:nvPr/>
        </p:nvSpPr>
        <p:spPr>
          <a:xfrm>
            <a:off x="0" y="704643"/>
            <a:ext cx="18288049" cy="9525"/>
          </a:xfrm>
          <a:prstGeom prst="line">
            <a:avLst/>
          </a:prstGeom>
          <a:ln w="19050" cap="flat">
            <a:solidFill>
              <a:srgbClr val="6B9BD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flipV="1">
            <a:off x="6908964" y="0"/>
            <a:ext cx="0" cy="10395005"/>
          </a:xfrm>
          <a:prstGeom prst="line">
            <a:avLst/>
          </a:prstGeom>
          <a:ln w="19050" cap="flat">
            <a:solidFill>
              <a:srgbClr val="6B9BD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937724" y="6235700"/>
            <a:ext cx="5537774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6651" y="2208004"/>
            <a:ext cx="11361752" cy="5870993"/>
            <a:chOff x="0" y="0"/>
            <a:chExt cx="15149003" cy="7827991"/>
          </a:xfrm>
        </p:grpSpPr>
        <p:sp>
          <p:nvSpPr>
            <p:cNvPr id="3" name="TextBox 3"/>
            <p:cNvSpPr txBox="1"/>
            <p:nvPr/>
          </p:nvSpPr>
          <p:spPr>
            <a:xfrm>
              <a:off x="0" y="2559607"/>
              <a:ext cx="15149003" cy="5268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 u="none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Sentence Transformers for Semantic Textual Similarity — Reimers &amp; Gurevych, 2019</a:t>
              </a:r>
            </a:p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endParaRPr lang="en-US" sz="2499" u="none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endParaRPr>
            </a:p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• Google Gemini API Documentation – https://ai.google.dev/gemini-api</a:t>
              </a:r>
            </a:p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endParaRPr lang="en-US" sz="2499" u="none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endParaRPr>
            </a:p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• FAISS: Efficient Similarity Search – Facebook AI Research</a:t>
              </a:r>
            </a:p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endParaRPr lang="en-US" sz="2499" u="none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endParaRPr>
            </a:p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• Streamlit Documentation – </a:t>
              </a:r>
              <a:r>
                <a:rPr lang="en-US" sz="2499" u="sng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  <a:hlinkClick r:id="rId2" tooltip="https://docs.streamlit.io"/>
                </a:rPr>
                <a:t>https://docs.streamlit.io</a:t>
              </a:r>
            </a:p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endParaRPr lang="en-US" sz="2499" u="sng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  <a:hlinkClick r:id="rId2" tooltip="https://docs.streamlit.io"/>
              </a:endParaRPr>
            </a:p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• Mental-Health Research Papers / PDF Documents (Domain Knowledge Source)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5149003" cy="1343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200"/>
                </a:lnSpc>
              </a:pPr>
              <a:r>
                <a:rPr lang="en-US" sz="6000" b="1" strike="noStrike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REFERENCES</a:t>
              </a:r>
            </a:p>
          </p:txBody>
        </p:sp>
      </p:grpSp>
      <p:sp>
        <p:nvSpPr>
          <p:cNvPr id="5" name="Freeform 5" descr="Orange Triangle Shape"/>
          <p:cNvSpPr/>
          <p:nvPr/>
        </p:nvSpPr>
        <p:spPr>
          <a:xfrm>
            <a:off x="14423600" y="1797712"/>
            <a:ext cx="3350050" cy="6691575"/>
          </a:xfrm>
          <a:custGeom>
            <a:avLst/>
            <a:gdLst/>
            <a:ahLst/>
            <a:cxnLst/>
            <a:rect l="l" t="t" r="r" b="b"/>
            <a:pathLst>
              <a:path w="3350050" h="6691575">
                <a:moveTo>
                  <a:pt x="0" y="0"/>
                </a:moveTo>
                <a:lnTo>
                  <a:pt x="3350050" y="0"/>
                </a:lnTo>
                <a:lnTo>
                  <a:pt x="3350050" y="6691576"/>
                </a:lnTo>
                <a:lnTo>
                  <a:pt x="0" y="66915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721065" y="1028700"/>
            <a:ext cx="2755120" cy="2755120"/>
          </a:xfrm>
          <a:custGeom>
            <a:avLst/>
            <a:gdLst/>
            <a:ahLst/>
            <a:cxnLst/>
            <a:rect l="l" t="t" r="r" b="b"/>
            <a:pathLst>
              <a:path w="2755120" h="2755120">
                <a:moveTo>
                  <a:pt x="0" y="0"/>
                </a:moveTo>
                <a:lnTo>
                  <a:pt x="2755120" y="0"/>
                </a:lnTo>
                <a:lnTo>
                  <a:pt x="2755120" y="2755120"/>
                </a:lnTo>
                <a:lnTo>
                  <a:pt x="0" y="27551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535173" y="7032937"/>
            <a:ext cx="4371785" cy="2912702"/>
          </a:xfrm>
          <a:custGeom>
            <a:avLst/>
            <a:gdLst/>
            <a:ahLst/>
            <a:cxnLst/>
            <a:rect l="l" t="t" r="r" b="b"/>
            <a:pathLst>
              <a:path w="4371785" h="2912702">
                <a:moveTo>
                  <a:pt x="0" y="0"/>
                </a:moveTo>
                <a:lnTo>
                  <a:pt x="4371784" y="0"/>
                </a:lnTo>
                <a:lnTo>
                  <a:pt x="4371784" y="2912701"/>
                </a:lnTo>
                <a:lnTo>
                  <a:pt x="0" y="29127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144497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4978" cy="812800"/>
            </a:xfrm>
            <a:custGeom>
              <a:avLst/>
              <a:gdLst/>
              <a:ahLst/>
              <a:cxnLst/>
              <a:rect l="l" t="t" r="r" b="b"/>
              <a:pathLst>
                <a:path w="1444978" h="812800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3470122"/>
            <a:ext cx="3250121" cy="6995948"/>
            <a:chOff x="0" y="0"/>
            <a:chExt cx="5355113" cy="1152698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55113" cy="11526982"/>
            </a:xfrm>
            <a:custGeom>
              <a:avLst/>
              <a:gdLst/>
              <a:ahLst/>
              <a:cxnLst/>
              <a:rect l="l" t="t" r="r" b="b"/>
              <a:pathLst>
                <a:path w="5355113" h="11526982">
                  <a:moveTo>
                    <a:pt x="5355113" y="11526982"/>
                  </a:moveTo>
                  <a:lnTo>
                    <a:pt x="0" y="11526982"/>
                  </a:lnTo>
                  <a:lnTo>
                    <a:pt x="0" y="0"/>
                  </a:lnTo>
                  <a:lnTo>
                    <a:pt x="5355113" y="11526982"/>
                  </a:lnTo>
                  <a:close/>
                </a:path>
              </a:pathLst>
            </a:custGeom>
            <a:solidFill>
              <a:srgbClr val="0A5088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4276</TotalTime>
  <Words>753</Words>
  <Application>Microsoft Office PowerPoint</Application>
  <PresentationFormat>Custom</PresentationFormat>
  <Paragraphs>124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Gill Sans Light</vt:lpstr>
      <vt:lpstr>Open Sans Bold</vt:lpstr>
      <vt:lpstr>Gill Sans Bold</vt:lpstr>
      <vt:lpstr>Calibri (MS) Bold</vt:lpstr>
      <vt:lpstr>Canva Sans Bold</vt:lpstr>
      <vt:lpstr>Calibri</vt:lpstr>
      <vt:lpstr>Calibri (MS)</vt:lpstr>
      <vt:lpstr>Canva Sans</vt:lpstr>
      <vt:lpstr>Tahoma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Major Project Presentation</dc:title>
  <dc:creator>Chirag Jain</dc:creator>
  <cp:lastModifiedBy>Lenovo</cp:lastModifiedBy>
  <cp:revision>6</cp:revision>
  <dcterms:created xsi:type="dcterms:W3CDTF">2006-08-16T00:00:00Z</dcterms:created>
  <dcterms:modified xsi:type="dcterms:W3CDTF">2026-05-21T10:16:15Z</dcterms:modified>
  <dc:identifier>DAGm4MJkGOQ</dc:identifier>
</cp:coreProperties>
</file>